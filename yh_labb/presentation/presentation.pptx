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3" r:id="rId2"/>
    <p:sldId id="264" r:id="rId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CC00F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C3C3B-65CA-486A-BF2D-8F6779B03B84}" type="datetimeFigureOut">
              <a:rPr lang="en-SE" smtClean="0"/>
              <a:t>2026-02-23</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83B48D-E7DC-491C-AFC8-7BDAE7CE37E0}" type="slidenum">
              <a:rPr lang="en-SE" smtClean="0"/>
              <a:t>‹#›</a:t>
            </a:fld>
            <a:endParaRPr lang="en-SE"/>
          </a:p>
        </p:txBody>
      </p:sp>
    </p:spTree>
    <p:extLst>
      <p:ext uri="{BB962C8B-B14F-4D97-AF65-F5344CB8AC3E}">
        <p14:creationId xmlns:p14="http://schemas.microsoft.com/office/powerpoint/2010/main" val="1365618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noProof="0" dirty="0"/>
              <a:t>Studenter och skolklasser är separata entiteter för att studenters personliga information lätt ska kunna skyddas men samtidigt kunna koppla namn till vardera klass för tex en klasslista</a:t>
            </a:r>
          </a:p>
          <a:p>
            <a:r>
              <a:rPr lang="sv-SE" noProof="0" dirty="0"/>
              <a:t>Klasser innehåller all information som är relevant för såväl utbildare som studenter</a:t>
            </a:r>
          </a:p>
          <a:p>
            <a:endParaRPr lang="sv-SE" noProof="0" dirty="0"/>
          </a:p>
          <a:p>
            <a:r>
              <a:rPr lang="sv-SE" noProof="0" dirty="0"/>
              <a:t>Varje klass tillhör ett program men programmen halls separata för att det dels ska vara lätt att skapa klasser med unik information som vilken ort eller terminsstart de har samtidigt som gemensam information såsom utbildningsledare och antal yrkeshögskolepoäng hålls konsekvent</a:t>
            </a:r>
          </a:p>
          <a:p>
            <a:endParaRPr lang="sv-SE" noProof="0" dirty="0"/>
          </a:p>
          <a:p>
            <a:r>
              <a:rPr lang="sv-SE" noProof="0" dirty="0"/>
              <a:t>Det finns en entitet för att lagra generella attribut om varje kurs men för att lätt kunna separera information såsom kursstarter och utbildare finns det separata entiteter för programkurser och fristående kurser. Den allmänna kursentiteten har ett attribut för att flagga för huruvida en kurs ska kunna finnas tillgänglig som fristående eller inte för att undvika missförstånd när en kurs måste vara en del av </a:t>
            </a:r>
            <a:r>
              <a:rPr lang="sv-SE" noProof="0"/>
              <a:t>ett program.</a:t>
            </a:r>
            <a:endParaRPr lang="sv-SE" noProof="0" dirty="0"/>
          </a:p>
        </p:txBody>
      </p:sp>
      <p:sp>
        <p:nvSpPr>
          <p:cNvPr id="4" name="Slide Number Placeholder 3"/>
          <p:cNvSpPr>
            <a:spLocks noGrp="1"/>
          </p:cNvSpPr>
          <p:nvPr>
            <p:ph type="sldNum" sz="quarter" idx="5"/>
          </p:nvPr>
        </p:nvSpPr>
        <p:spPr/>
        <p:txBody>
          <a:bodyPr/>
          <a:lstStyle/>
          <a:p>
            <a:fld id="{CC83B48D-E7DC-491C-AFC8-7BDAE7CE37E0}" type="slidenum">
              <a:rPr lang="en-SE" smtClean="0"/>
              <a:t>1</a:t>
            </a:fld>
            <a:endParaRPr lang="en-SE"/>
          </a:p>
        </p:txBody>
      </p:sp>
    </p:spTree>
    <p:extLst>
      <p:ext uri="{BB962C8B-B14F-4D97-AF65-F5344CB8AC3E}">
        <p14:creationId xmlns:p14="http://schemas.microsoft.com/office/powerpoint/2010/main" val="4062193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15D61-47DE-FE8B-827D-A69B00597C2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C5181030-DD10-4C65-6971-9FEF0D0C0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DFDFEA8C-D61B-4174-39B7-3B4E187AEAB7}"/>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D7AD6050-0FF0-CB66-2DDA-1E4FDED2D147}"/>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78D491F6-9021-2D8C-0CD5-F59B45E1997B}"/>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587565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5399B-64C5-02FF-023D-E3C8986A0EC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9AA8D3F-ADC1-5A20-9095-33476984259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15901BF6-9123-94CD-9532-D35B835C238B}"/>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DB77F25A-7D89-57DC-CE6F-ED5DE3DAC94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045057DB-3AA0-F070-10FE-513636C46ED8}"/>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56586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3AB4-F4CE-A4B8-92D4-AA5FEADEC23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71292C31-A90D-FD3C-102F-F5EBB17AE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18D5F98-290D-CD6D-67D1-92FAAB844448}"/>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FE0803D2-95BB-3EDF-3C8E-2CA7EF7DEE02}"/>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908B8558-5702-CB2B-FC76-560C384FD000}"/>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3750991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FD77-B7B7-6FC7-9CE4-FC347B16F6E6}"/>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D2B5ED35-BCF2-A529-01C3-7DB993057C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0E33DF32-14CD-299A-9434-9719713A4E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0E3DEADE-E721-B67E-4347-6E94D2FEB2A9}"/>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6" name="Footer Placeholder 5">
            <a:extLst>
              <a:ext uri="{FF2B5EF4-FFF2-40B4-BE49-F238E27FC236}">
                <a16:creationId xmlns:a16="http://schemas.microsoft.com/office/drawing/2014/main" id="{B22092F4-8A93-C79B-440C-357EA041234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86047B35-2725-F041-6213-1C6DC65A291B}"/>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560495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7082-8C04-DFD8-85E0-474226055AB3}"/>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17D059B8-3277-BCD7-4A3C-2D3D3A30A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9902A20-DB52-D51F-905A-71D63AB430A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A5C0716F-3439-19BA-EA67-ADD3BA1F6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9A6C9CC-445C-AD7D-4523-C2792E4372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23D71581-F2C4-A08F-51C7-90E144CA9C59}"/>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8" name="Footer Placeholder 7">
            <a:extLst>
              <a:ext uri="{FF2B5EF4-FFF2-40B4-BE49-F238E27FC236}">
                <a16:creationId xmlns:a16="http://schemas.microsoft.com/office/drawing/2014/main" id="{2DF00CBA-56AB-C551-97F9-5A6994F906CA}"/>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99B44DE4-1C49-F919-7119-6F37F35F275D}"/>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4085813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408DA-1C53-B788-8589-E073EBD85B69}"/>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505F6ED3-3029-C354-844B-396945CD89C0}"/>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4" name="Footer Placeholder 3">
            <a:extLst>
              <a:ext uri="{FF2B5EF4-FFF2-40B4-BE49-F238E27FC236}">
                <a16:creationId xmlns:a16="http://schemas.microsoft.com/office/drawing/2014/main" id="{59937096-6F5A-8BB6-9DD1-6952391D5A15}"/>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7F7C054D-77DD-CFEB-68AB-5047A828399A}"/>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88316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73633D-E2EE-474D-F8CA-EB64ECDFFD79}"/>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3" name="Footer Placeholder 2">
            <a:extLst>
              <a:ext uri="{FF2B5EF4-FFF2-40B4-BE49-F238E27FC236}">
                <a16:creationId xmlns:a16="http://schemas.microsoft.com/office/drawing/2014/main" id="{40A36626-AD77-9025-B4EC-3185A63181C0}"/>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3F2D6C94-32E0-11A8-002E-7EBE9D6208AF}"/>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59343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A0706-DA1D-3727-B599-2E98C8A2AF9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1F03A271-F80E-B17F-E59F-2D36A005A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08C3149E-E0AC-CE7F-C02D-96F9078013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35BECC-D510-75C0-BB41-2939923960FE}"/>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6" name="Footer Placeholder 5">
            <a:extLst>
              <a:ext uri="{FF2B5EF4-FFF2-40B4-BE49-F238E27FC236}">
                <a16:creationId xmlns:a16="http://schemas.microsoft.com/office/drawing/2014/main" id="{F13633C5-A2AC-D3DE-DD9D-DE06A6097964}"/>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F20C8C33-6F03-2537-D379-87153882156C}"/>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60076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3854-AA46-C637-FF22-56C4CEA0782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08D6C2DE-2EAD-2192-E4A3-7072472D77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4D3C7828-AB2C-71CB-44E1-0A490E06F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88CC37-A46B-0E4D-42C0-EBF83327CB12}"/>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6" name="Footer Placeholder 5">
            <a:extLst>
              <a:ext uri="{FF2B5EF4-FFF2-40B4-BE49-F238E27FC236}">
                <a16:creationId xmlns:a16="http://schemas.microsoft.com/office/drawing/2014/main" id="{B93AC61A-1DAF-A664-C7EF-3F5BEC43DF2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F9B8A775-7CCC-4249-E707-4E38F8897A4E}"/>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4246447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4A53-0BA3-1F2B-3E04-21CFAA174A97}"/>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56180D90-D569-DD1F-8CA5-9850A55982D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BB4001BE-4294-2C72-DF7F-9C1B92C6BCE6}"/>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512B075D-3FB5-FA4C-9E8D-2F6C5D16C73E}"/>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6B8C6EA7-4F5A-9F9A-3380-5C6F80845806}"/>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75515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884E6-70AD-18FA-60D6-0DE15478393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2956BDDC-54F6-4698-2872-39F075AB7C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654228B4-B948-9E17-3659-4B6BD041594D}"/>
              </a:ext>
            </a:extLst>
          </p:cNvPr>
          <p:cNvSpPr>
            <a:spLocks noGrp="1"/>
          </p:cNvSpPr>
          <p:nvPr>
            <p:ph type="dt" sz="half" idx="10"/>
          </p:nvPr>
        </p:nvSpPr>
        <p:spPr/>
        <p:txBody>
          <a:body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010634AE-8446-7699-10D3-B33208BC79C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EE338857-FBAF-5E11-6AF9-BBA62BEA641D}"/>
              </a:ext>
            </a:extLst>
          </p:cNvPr>
          <p:cNvSpPr>
            <a:spLocks noGrp="1"/>
          </p:cNvSpPr>
          <p:nvPr>
            <p:ph type="sldNum" sz="quarter" idx="12"/>
          </p:nvPr>
        </p:nvSpPr>
        <p:spPr/>
        <p:txBody>
          <a:bodyPr/>
          <a:lstStyle/>
          <a:p>
            <a:fld id="{8A3A961A-2326-421A-8301-9685C839918E}" type="slidenum">
              <a:rPr lang="en-SE" smtClean="0"/>
              <a:t>‹#›</a:t>
            </a:fld>
            <a:endParaRPr lang="en-SE"/>
          </a:p>
        </p:txBody>
      </p:sp>
    </p:spTree>
    <p:extLst>
      <p:ext uri="{BB962C8B-B14F-4D97-AF65-F5344CB8AC3E}">
        <p14:creationId xmlns:p14="http://schemas.microsoft.com/office/powerpoint/2010/main" val="1719823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68BBE6-77B8-4089-A898-D96B01ACD3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985EEA16-048F-5118-6814-58761172F7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8A7C8803-D0FE-D8C9-80C9-F4011DF1F4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98FA03-1A3B-45A1-AF81-10310EEDDF7C}" type="datetimeFigureOut">
              <a:rPr lang="en-SE" smtClean="0"/>
              <a:t>2026-02-22</a:t>
            </a:fld>
            <a:endParaRPr lang="en-SE"/>
          </a:p>
        </p:txBody>
      </p:sp>
      <p:sp>
        <p:nvSpPr>
          <p:cNvPr id="5" name="Footer Placeholder 4">
            <a:extLst>
              <a:ext uri="{FF2B5EF4-FFF2-40B4-BE49-F238E27FC236}">
                <a16:creationId xmlns:a16="http://schemas.microsoft.com/office/drawing/2014/main" id="{91B53C2D-E982-39BF-AC56-CE09C325F7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E"/>
          </a:p>
        </p:txBody>
      </p:sp>
      <p:sp>
        <p:nvSpPr>
          <p:cNvPr id="6" name="Slide Number Placeholder 5">
            <a:extLst>
              <a:ext uri="{FF2B5EF4-FFF2-40B4-BE49-F238E27FC236}">
                <a16:creationId xmlns:a16="http://schemas.microsoft.com/office/drawing/2014/main" id="{8CC83458-7A68-3324-8B64-F8E951FDAC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3A961A-2326-421A-8301-9685C839918E}" type="slidenum">
              <a:rPr lang="en-SE" smtClean="0"/>
              <a:t>‹#›</a:t>
            </a:fld>
            <a:endParaRPr lang="en-SE"/>
          </a:p>
        </p:txBody>
      </p:sp>
    </p:spTree>
    <p:extLst>
      <p:ext uri="{BB962C8B-B14F-4D97-AF65-F5344CB8AC3E}">
        <p14:creationId xmlns:p14="http://schemas.microsoft.com/office/powerpoint/2010/main" val="1278973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65DE-5BC8-B512-69ED-09CB807D1DB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71B0AA-4841-345D-4B0C-A9CA3CF84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802" y="360940"/>
            <a:ext cx="10543764" cy="6131100"/>
          </a:xfrm>
          <a:prstGeom prst="rect">
            <a:avLst/>
          </a:prstGeom>
        </p:spPr>
      </p:pic>
      <p:sp>
        <p:nvSpPr>
          <p:cNvPr id="2" name="L-Shape 1">
            <a:extLst>
              <a:ext uri="{FF2B5EF4-FFF2-40B4-BE49-F238E27FC236}">
                <a16:creationId xmlns:a16="http://schemas.microsoft.com/office/drawing/2014/main" id="{D1612231-9D2F-D47F-1BE9-5C2E708134D4}"/>
              </a:ext>
            </a:extLst>
          </p:cNvPr>
          <p:cNvSpPr/>
          <p:nvPr/>
        </p:nvSpPr>
        <p:spPr>
          <a:xfrm rot="10800000">
            <a:off x="6096000" y="162962"/>
            <a:ext cx="5483382" cy="4517679"/>
          </a:xfrm>
          <a:prstGeom prst="corner">
            <a:avLst>
              <a:gd name="adj1" fmla="val 29929"/>
              <a:gd name="adj2" fmla="val 47555"/>
            </a:avLst>
          </a:prstGeom>
          <a:solidFill>
            <a:srgbClr val="0066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Rectangle 2">
            <a:extLst>
              <a:ext uri="{FF2B5EF4-FFF2-40B4-BE49-F238E27FC236}">
                <a16:creationId xmlns:a16="http://schemas.microsoft.com/office/drawing/2014/main" id="{9D5C7898-C690-E195-58BE-DB856291107C}"/>
              </a:ext>
            </a:extLst>
          </p:cNvPr>
          <p:cNvSpPr/>
          <p:nvPr/>
        </p:nvSpPr>
        <p:spPr>
          <a:xfrm>
            <a:off x="506995" y="162962"/>
            <a:ext cx="5042780" cy="1358020"/>
          </a:xfrm>
          <a:prstGeom prst="rect">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4" name="Rectangle 3">
            <a:extLst>
              <a:ext uri="{FF2B5EF4-FFF2-40B4-BE49-F238E27FC236}">
                <a16:creationId xmlns:a16="http://schemas.microsoft.com/office/drawing/2014/main" id="{3A40372B-BDCF-122C-0A05-DF30737445BB}"/>
              </a:ext>
            </a:extLst>
          </p:cNvPr>
          <p:cNvSpPr/>
          <p:nvPr/>
        </p:nvSpPr>
        <p:spPr>
          <a:xfrm>
            <a:off x="3023857" y="1742792"/>
            <a:ext cx="2525918" cy="1358019"/>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Rectangle 10">
            <a:extLst>
              <a:ext uri="{FF2B5EF4-FFF2-40B4-BE49-F238E27FC236}">
                <a16:creationId xmlns:a16="http://schemas.microsoft.com/office/drawing/2014/main" id="{72B009C0-8C74-067D-BDD2-346C219E4587}"/>
              </a:ext>
            </a:extLst>
          </p:cNvPr>
          <p:cNvSpPr/>
          <p:nvPr/>
        </p:nvSpPr>
        <p:spPr>
          <a:xfrm>
            <a:off x="6174463" y="1742791"/>
            <a:ext cx="2417276" cy="2648139"/>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Rectangle 11">
            <a:extLst>
              <a:ext uri="{FF2B5EF4-FFF2-40B4-BE49-F238E27FC236}">
                <a16:creationId xmlns:a16="http://schemas.microsoft.com/office/drawing/2014/main" id="{6095ED5B-90CD-6AAF-197C-87EB6846B435}"/>
              </a:ext>
            </a:extLst>
          </p:cNvPr>
          <p:cNvSpPr/>
          <p:nvPr/>
        </p:nvSpPr>
        <p:spPr>
          <a:xfrm>
            <a:off x="5305331" y="4390931"/>
            <a:ext cx="4191754" cy="1330860"/>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85905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250"/>
                                        <p:tgtEl>
                                          <p:spTgt spid="2"/>
                                        </p:tgtEl>
                                      </p:cBhvr>
                                    </p:animEffect>
                                    <p:set>
                                      <p:cBhvr>
                                        <p:cTn id="24" dur="1" fill="hold">
                                          <p:stCondLst>
                                            <p:cond delay="249"/>
                                          </p:stCondLst>
                                        </p:cTn>
                                        <p:tgtEl>
                                          <p:spTgt spid="2"/>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250"/>
                                        <p:tgtEl>
                                          <p:spTgt spid="4"/>
                                        </p:tgtEl>
                                      </p:cBhvr>
                                    </p:animEffect>
                                    <p:set>
                                      <p:cBhvr>
                                        <p:cTn id="27" dur="1" fill="hold">
                                          <p:stCondLst>
                                            <p:cond delay="249"/>
                                          </p:stCondLst>
                                        </p:cTn>
                                        <p:tgtEl>
                                          <p:spTgt spid="4"/>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250"/>
                                        <p:tgtEl>
                                          <p:spTgt spid="11"/>
                                        </p:tgtEl>
                                      </p:cBhvr>
                                    </p:animEffect>
                                    <p:set>
                                      <p:cBhvr>
                                        <p:cTn id="30" dur="1" fill="hold">
                                          <p:stCondLst>
                                            <p:cond delay="249"/>
                                          </p:stCondLst>
                                        </p:cTn>
                                        <p:tgtEl>
                                          <p:spTgt spid="11"/>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250"/>
                                        <p:tgtEl>
                                          <p:spTgt spid="12"/>
                                        </p:tgtEl>
                                      </p:cBhvr>
                                    </p:animEffect>
                                    <p:set>
                                      <p:cBhvr>
                                        <p:cTn id="33" dur="1" fill="hold">
                                          <p:stCondLst>
                                            <p:cond delay="249"/>
                                          </p:stCondLst>
                                        </p:cTn>
                                        <p:tgtEl>
                                          <p:spTgt spid="1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2"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250"/>
                                        <p:tgtEl>
                                          <p:spTgt spid="2"/>
                                        </p:tgtEl>
                                      </p:cBhvr>
                                    </p:animEffect>
                                  </p:childTnLst>
                                </p:cTn>
                              </p:par>
                              <p:par>
                                <p:cTn id="39" presetID="10" presetClass="exit" presetSubtype="0" fill="hold" grpId="1" nodeType="withEffect">
                                  <p:stCondLst>
                                    <p:cond delay="0"/>
                                  </p:stCondLst>
                                  <p:childTnLst>
                                    <p:animEffect transition="out" filter="fade">
                                      <p:cBhvr>
                                        <p:cTn id="40" dur="250"/>
                                        <p:tgtEl>
                                          <p:spTgt spid="3"/>
                                        </p:tgtEl>
                                      </p:cBhvr>
                                    </p:animEffect>
                                    <p:set>
                                      <p:cBhvr>
                                        <p:cTn id="41" dur="1" fill="hold">
                                          <p:stCondLst>
                                            <p:cond delay="249"/>
                                          </p:stCondLst>
                                        </p:cTn>
                                        <p:tgtEl>
                                          <p:spTgt spid="3"/>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3" nodeType="clickEffect">
                                  <p:stCondLst>
                                    <p:cond delay="0"/>
                                  </p:stCondLst>
                                  <p:childTnLst>
                                    <p:animEffect transition="out" filter="fade">
                                      <p:cBhvr>
                                        <p:cTn id="45" dur="250"/>
                                        <p:tgtEl>
                                          <p:spTgt spid="2"/>
                                        </p:tgtEl>
                                      </p:cBhvr>
                                    </p:animEffect>
                                    <p:set>
                                      <p:cBhvr>
                                        <p:cTn id="46" dur="1" fill="hold">
                                          <p:stCondLst>
                                            <p:cond delay="249"/>
                                          </p:stCondLst>
                                        </p:cTn>
                                        <p:tgtEl>
                                          <p:spTgt spid="2"/>
                                        </p:tgtEl>
                                        <p:attrNameLst>
                                          <p:attrName>style.visibility</p:attrName>
                                        </p:attrNameLst>
                                      </p:cBhvr>
                                      <p:to>
                                        <p:strVal val="hidden"/>
                                      </p:to>
                                    </p:set>
                                  </p:childTnLst>
                                </p:cTn>
                              </p:par>
                              <p:par>
                                <p:cTn id="47" presetID="10" presetClass="entr" presetSubtype="0" fill="hold" grpId="2" nodeType="with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25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3" nodeType="clickEffect">
                                  <p:stCondLst>
                                    <p:cond delay="0"/>
                                  </p:stCondLst>
                                  <p:childTnLst>
                                    <p:animEffect transition="out" filter="fade">
                                      <p:cBhvr>
                                        <p:cTn id="53" dur="250"/>
                                        <p:tgtEl>
                                          <p:spTgt spid="4"/>
                                        </p:tgtEl>
                                      </p:cBhvr>
                                    </p:animEffect>
                                    <p:set>
                                      <p:cBhvr>
                                        <p:cTn id="54" dur="1" fill="hold">
                                          <p:stCondLst>
                                            <p:cond delay="249"/>
                                          </p:stCondLst>
                                        </p:cTn>
                                        <p:tgtEl>
                                          <p:spTgt spid="4"/>
                                        </p:tgtEl>
                                        <p:attrNameLst>
                                          <p:attrName>style.visibility</p:attrName>
                                        </p:attrNameLst>
                                      </p:cBhvr>
                                      <p:to>
                                        <p:strVal val="hidden"/>
                                      </p:to>
                                    </p:set>
                                  </p:childTnLst>
                                </p:cTn>
                              </p:par>
                              <p:par>
                                <p:cTn id="55" presetID="10" presetClass="entr" presetSubtype="0" fill="hold" grpId="2"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250"/>
                                        <p:tgtEl>
                                          <p:spTgt spid="11"/>
                                        </p:tgtEl>
                                      </p:cBhvr>
                                    </p:animEffect>
                                  </p:childTnLst>
                                </p:cTn>
                              </p:par>
                              <p:par>
                                <p:cTn id="58" presetID="10" presetClass="entr" presetSubtype="0" fill="hold" grpId="2"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P spid="3" grpId="0" animBg="1"/>
      <p:bldP spid="3" grpId="1" animBg="1"/>
      <p:bldP spid="4" grpId="0" animBg="1"/>
      <p:bldP spid="4" grpId="1" animBg="1"/>
      <p:bldP spid="4" grpId="2" animBg="1"/>
      <p:bldP spid="4" grpId="3" animBg="1"/>
      <p:bldP spid="11" grpId="0" animBg="1"/>
      <p:bldP spid="11" grpId="1" animBg="1"/>
      <p:bldP spid="11" grpId="2" animBg="1"/>
      <p:bldP spid="12" grpId="0" animBg="1"/>
      <p:bldP spid="12" grpId="1" animBg="1"/>
      <p:bldP spid="12"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B4952-2BB2-6CE4-9DD3-91CA121023E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02B1391-C86B-58DE-192F-A990A98D02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620" y="308206"/>
            <a:ext cx="9107006" cy="6239013"/>
          </a:xfrm>
          <a:prstGeom prst="rect">
            <a:avLst/>
          </a:prstGeom>
        </p:spPr>
      </p:pic>
      <p:sp>
        <p:nvSpPr>
          <p:cNvPr id="2" name="Rectangle 1">
            <a:extLst>
              <a:ext uri="{FF2B5EF4-FFF2-40B4-BE49-F238E27FC236}">
                <a16:creationId xmlns:a16="http://schemas.microsoft.com/office/drawing/2014/main" id="{8AFFC17E-09FA-F3D4-725D-45949A0874DB}"/>
              </a:ext>
            </a:extLst>
          </p:cNvPr>
          <p:cNvSpPr/>
          <p:nvPr/>
        </p:nvSpPr>
        <p:spPr>
          <a:xfrm>
            <a:off x="1361783" y="226337"/>
            <a:ext cx="4287579" cy="1828800"/>
          </a:xfrm>
          <a:prstGeom prst="rect">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Rectangle 4">
            <a:extLst>
              <a:ext uri="{FF2B5EF4-FFF2-40B4-BE49-F238E27FC236}">
                <a16:creationId xmlns:a16="http://schemas.microsoft.com/office/drawing/2014/main" id="{84DD70FF-1C99-7CD3-D1D8-35BFFA58DA3E}"/>
              </a:ext>
            </a:extLst>
          </p:cNvPr>
          <p:cNvSpPr/>
          <p:nvPr/>
        </p:nvSpPr>
        <p:spPr>
          <a:xfrm>
            <a:off x="6167527" y="1937442"/>
            <a:ext cx="1881004" cy="4418091"/>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Rectangle 5">
            <a:extLst>
              <a:ext uri="{FF2B5EF4-FFF2-40B4-BE49-F238E27FC236}">
                <a16:creationId xmlns:a16="http://schemas.microsoft.com/office/drawing/2014/main" id="{E79B5A14-2B61-DFE4-2734-00706F37DDBA}"/>
              </a:ext>
            </a:extLst>
          </p:cNvPr>
          <p:cNvSpPr/>
          <p:nvPr/>
        </p:nvSpPr>
        <p:spPr>
          <a:xfrm>
            <a:off x="3766242" y="4246076"/>
            <a:ext cx="2401283" cy="2109458"/>
          </a:xfrm>
          <a:prstGeom prst="rect">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Rectangle 6">
            <a:extLst>
              <a:ext uri="{FF2B5EF4-FFF2-40B4-BE49-F238E27FC236}">
                <a16:creationId xmlns:a16="http://schemas.microsoft.com/office/drawing/2014/main" id="{5D857873-5217-77D9-D2A4-D8044BB4F190}"/>
              </a:ext>
            </a:extLst>
          </p:cNvPr>
          <p:cNvSpPr/>
          <p:nvPr/>
        </p:nvSpPr>
        <p:spPr>
          <a:xfrm>
            <a:off x="8574102" y="1828800"/>
            <a:ext cx="1881004" cy="4291343"/>
          </a:xfrm>
          <a:prstGeom prst="rect">
            <a:avLst/>
          </a:prstGeom>
          <a:solidFill>
            <a:srgbClr val="0066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Rectangle 7">
            <a:extLst>
              <a:ext uri="{FF2B5EF4-FFF2-40B4-BE49-F238E27FC236}">
                <a16:creationId xmlns:a16="http://schemas.microsoft.com/office/drawing/2014/main" id="{10B7C511-5DEC-15B0-C40C-66BBF5C6272E}"/>
              </a:ext>
            </a:extLst>
          </p:cNvPr>
          <p:cNvSpPr/>
          <p:nvPr/>
        </p:nvSpPr>
        <p:spPr>
          <a:xfrm>
            <a:off x="6167526" y="226337"/>
            <a:ext cx="4287579" cy="1602463"/>
          </a:xfrm>
          <a:prstGeom prst="rect">
            <a:avLst/>
          </a:prstGeom>
          <a:solidFill>
            <a:srgbClr val="0066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Rectangle 8">
            <a:extLst>
              <a:ext uri="{FF2B5EF4-FFF2-40B4-BE49-F238E27FC236}">
                <a16:creationId xmlns:a16="http://schemas.microsoft.com/office/drawing/2014/main" id="{AD196135-D0F7-EC04-96DE-3C2FD3B502E6}"/>
              </a:ext>
            </a:extLst>
          </p:cNvPr>
          <p:cNvSpPr/>
          <p:nvPr/>
        </p:nvSpPr>
        <p:spPr>
          <a:xfrm>
            <a:off x="3766242" y="2299577"/>
            <a:ext cx="1883120" cy="1439501"/>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81318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10384</TotalTime>
  <Words>149</Words>
  <Application>Microsoft Office PowerPoint</Application>
  <PresentationFormat>Widescreen</PresentationFormat>
  <Paragraphs>7</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Charlotta Dellborg</dc:creator>
  <cp:lastModifiedBy>Charlotta Dellborg</cp:lastModifiedBy>
  <cp:revision>11</cp:revision>
  <dcterms:created xsi:type="dcterms:W3CDTF">2026-02-13T14:28:04Z</dcterms:created>
  <dcterms:modified xsi:type="dcterms:W3CDTF">2026-02-23T15:03:08Z</dcterms:modified>
</cp:coreProperties>
</file>